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5400" b="1" i="0">
                <a:solidFill>
                  <a:srgbClr val="0F2850"/>
                </a:solidFill>
                <a:latin typeface="Calibri"/>
              </a:rPr>
              <a:t>AirSeva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468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0" i="0">
                <a:solidFill>
                  <a:srgbClr val="505050"/>
                </a:solidFill>
                <a:latin typeface="Calibri"/>
              </a:rPr>
              <a:t>Agentic Air Quality Health Advisory System for Indian Communities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2004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0" i="0">
                <a:solidFill>
                  <a:srgbClr val="646464"/>
                </a:solidFill>
                <a:latin typeface="Calibri"/>
              </a:rPr>
              <a:t>Shreenivas S B</a:t>
            </a:r>
          </a:p>
          <a:p>
            <a:pPr algn="ctr">
              <a:spcAft>
                <a:spcPts val="300"/>
              </a:spcAft>
            </a:pPr>
            <a:r>
              <a:rPr sz="1400" b="0" i="0">
                <a:solidFill>
                  <a:srgbClr val="646464"/>
                </a:solidFill>
                <a:latin typeface="Calibri"/>
              </a:rPr>
              <a:t>Dayananda Sagar University, Bangalore  |  MCA – Data Science</a:t>
            </a:r>
          </a:p>
          <a:p>
            <a:pPr algn="ctr">
              <a:spcAft>
                <a:spcPts val="300"/>
              </a:spcAft>
            </a:pPr>
            <a:r>
              <a:rPr sz="1400" b="0" i="0">
                <a:solidFill>
                  <a:srgbClr val="646464"/>
                </a:solidFill>
                <a:latin typeface="Calibri"/>
              </a:rPr>
              <a:t>1M1B AI for Sustainability  ·  IBM SkillsBuild + AICTE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4572000"/>
            <a:ext cx="7589520" cy="502920"/>
          </a:xfrm>
          <a:prstGeom prst="rect">
            <a:avLst/>
          </a:prstGeom>
          <a:solidFill>
            <a:srgbClr val="F0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rIns="182880" tIns="91440"/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0F2850"/>
                </a:solidFill>
                <a:latin typeface="Calibri"/>
              </a:rPr>
              <a:t>Live App: https://airseva-4uzac5mbekkwmzvdt4rsux.streamlit.app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88952" cy="320040"/>
          </a:xfrm>
          <a:prstGeom prst="rect">
            <a:avLst/>
          </a:prstGeom>
          <a:solidFill>
            <a:srgbClr val="0F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1M1B AI for Sustainability  ·  IBM SkillsBuild + AICTE  ·  Shreenivas S B  ·  Dayananda Sagar University, Bangalore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F2850"/>
                </a:solidFill>
                <a:latin typeface="Calibri"/>
              </a:rPr>
              <a:t>SDG Alignment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04672"/>
            <a:ext cx="11430000" cy="22860"/>
          </a:xfrm>
          <a:prstGeom prst="rect">
            <a:avLst/>
          </a:prstGeom>
          <a:solidFill>
            <a:srgbClr val="0F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5394960" cy="5120640"/>
          </a:xfrm>
          <a:prstGeom prst="rect">
            <a:avLst/>
          </a:prstGeom>
          <a:solidFill>
            <a:srgbClr val="F0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2850"/>
                </a:solidFill>
                <a:latin typeface="Calibri"/>
              </a:rPr>
              <a:t>SDG 3 — Good Health &amp; Well-Being</a:t>
            </a:r>
          </a:p>
          <a:p>
            <a:pPr algn="l">
              <a:spcAft>
                <a:spcPts val="200"/>
              </a:spcAft>
            </a:pPr>
            <a:r>
              <a:rPr sz="600" b="0" i="0">
                <a:solidFill>
                  <a:srgbClr val="323232"/>
                </a:solidFill>
                <a:latin typeface="Calibri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323232"/>
                </a:solidFill>
                <a:latin typeface="Calibri"/>
              </a:rPr>
              <a:t>AirSeva delivers real-time, personalised air quality health advisories to help Indian communities — especially vulnerable groups — protect their health during high pollution periods.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0" y="1005840"/>
            <a:ext cx="5394960" cy="5120640"/>
          </a:xfrm>
          <a:prstGeom prst="rect">
            <a:avLst/>
          </a:prstGeom>
          <a:solidFill>
            <a:srgbClr val="F0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2850"/>
                </a:solidFill>
                <a:latin typeface="Calibri"/>
              </a:rPr>
              <a:t>SDG 11 — Sustainable Cities &amp; Communities</a:t>
            </a:r>
          </a:p>
          <a:p>
            <a:pPr algn="l">
              <a:spcAft>
                <a:spcPts val="200"/>
              </a:spcAft>
            </a:pPr>
            <a:r>
              <a:rPr sz="600" b="0" i="0">
                <a:solidFill>
                  <a:srgbClr val="323232"/>
                </a:solidFill>
                <a:latin typeface="Calibri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323232"/>
                </a:solidFill>
                <a:latin typeface="Calibri"/>
              </a:rPr>
              <a:t>By covering 26 Indian cities including Tier-2 and Tier-3 locations, AirSeva promotes equitable access to environmental health information, supporting more sustainable and resilient urban communities.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88952" cy="320040"/>
          </a:xfrm>
          <a:prstGeom prst="rect">
            <a:avLst/>
          </a:prstGeom>
          <a:solidFill>
            <a:srgbClr val="0F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1M1B AI for Sustainability  ·  IBM SkillsBuild + AICTE  ·  Shreenivas S B  ·  Dayananda Sagar University, Bangalore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F2850"/>
                </a:solidFill>
                <a:latin typeface="Calibri"/>
              </a:rP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04672"/>
            <a:ext cx="11430000" cy="22860"/>
          </a:xfrm>
          <a:prstGeom prst="rect">
            <a:avLst/>
          </a:prstGeom>
          <a:solidFill>
            <a:srgbClr val="0F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11430000" cy="1371600"/>
          </a:xfrm>
          <a:prstGeom prst="rect">
            <a:avLst/>
          </a:prstGeom>
          <a:solidFill>
            <a:srgbClr val="F0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spcAft>
                <a:spcPts val="400"/>
              </a:spcAft>
            </a:pPr>
            <a:r>
              <a:rPr sz="1400" b="0" i="1">
                <a:solidFill>
                  <a:srgbClr val="323232"/>
                </a:solidFill>
                <a:latin typeface="Calibri"/>
              </a:rPr>
              <a:t>How might we use AI to provide accessible, real-time, and location-specific air quality health advisories so that communities across India — especially vulnerable groups — can take timely precautions and become more resilient to air pollution?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606040"/>
            <a:ext cx="3566160" cy="3520440"/>
          </a:xfrm>
          <a:prstGeom prst="rect">
            <a:avLst/>
          </a:prstGeom>
          <a:solidFill>
            <a:srgbClr val="F0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2850"/>
                </a:solidFill>
                <a:latin typeface="Calibri"/>
              </a:rPr>
              <a:t>The Gap</a:t>
            </a:r>
          </a:p>
          <a:p>
            <a:pPr algn="l">
              <a:spcAft>
                <a:spcPts val="200"/>
              </a:spcAft>
            </a:pPr>
            <a:r>
              <a:rPr sz="600" b="0" i="0">
                <a:solidFill>
                  <a:srgbClr val="323232"/>
                </a:solidFill>
                <a:latin typeface="Calibri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323232"/>
                </a:solidFill>
                <a:latin typeface="Calibri"/>
              </a:rPr>
              <a:t>300M+ Indians exposed to hazardous AQI levels annually.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323232"/>
                </a:solidFill>
                <a:latin typeface="Calibri"/>
              </a:rPr>
              <a:t>Existing tools show raw AQI numbers with no health guidance.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251960" y="2606040"/>
            <a:ext cx="3566160" cy="3520440"/>
          </a:xfrm>
          <a:prstGeom prst="rect">
            <a:avLst/>
          </a:prstGeom>
          <a:solidFill>
            <a:srgbClr val="F0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2850"/>
                </a:solidFill>
                <a:latin typeface="Calibri"/>
              </a:rPr>
              <a:t>The Vulnerable</a:t>
            </a:r>
          </a:p>
          <a:p>
            <a:pPr algn="l">
              <a:spcAft>
                <a:spcPts val="200"/>
              </a:spcAft>
            </a:pPr>
            <a:r>
              <a:rPr sz="600" b="0" i="0">
                <a:solidFill>
                  <a:srgbClr val="323232"/>
                </a:solidFill>
                <a:latin typeface="Calibri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323232"/>
                </a:solidFill>
                <a:latin typeface="Calibri"/>
              </a:rPr>
              <a:t>Children, elderly, asthma patients, and outdoor workers face disproportionate health risk from air pollution.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8138160" y="2606040"/>
            <a:ext cx="3566160" cy="3520440"/>
          </a:xfrm>
          <a:prstGeom prst="rect">
            <a:avLst/>
          </a:prstGeom>
          <a:solidFill>
            <a:srgbClr val="F0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2850"/>
                </a:solidFill>
                <a:latin typeface="Calibri"/>
              </a:rPr>
              <a:t>The Need</a:t>
            </a:r>
          </a:p>
          <a:p>
            <a:pPr algn="l">
              <a:spcAft>
                <a:spcPts val="200"/>
              </a:spcAft>
            </a:pPr>
            <a:r>
              <a:rPr sz="600" b="0" i="0">
                <a:solidFill>
                  <a:srgbClr val="323232"/>
                </a:solidFill>
                <a:latin typeface="Calibri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323232"/>
                </a:solidFill>
                <a:latin typeface="Calibri"/>
              </a:rPr>
              <a:t>A system that translates raw pollutant data into clear, personalised, actionable health advice — in real time.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88952" cy="320040"/>
          </a:xfrm>
          <a:prstGeom prst="rect">
            <a:avLst/>
          </a:prstGeom>
          <a:solidFill>
            <a:srgbClr val="0F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1M1B AI for Sustainability  ·  IBM SkillsBuild + AICTE  ·  Shreenivas S B  ·  Dayananda Sagar University, Bangalore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F2850"/>
                </a:solidFill>
                <a:latin typeface="Calibri"/>
              </a:rPr>
              <a:t>AI Solution – 4-Agent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04672"/>
            <a:ext cx="11430000" cy="22860"/>
          </a:xfrm>
          <a:prstGeom prst="rect">
            <a:avLst/>
          </a:prstGeom>
          <a:solidFill>
            <a:srgbClr val="0F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1920240" cy="3931920"/>
          </a:xfrm>
          <a:prstGeom prst="rect">
            <a:avLst/>
          </a:prstGeom>
          <a:solidFill>
            <a:srgbClr val="F0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F2850"/>
                </a:solidFill>
                <a:latin typeface="Calibri"/>
              </a:rPr>
              <a:t>Agent 1</a:t>
            </a:r>
          </a:p>
          <a:p>
            <a:pPr algn="l">
              <a:spcAft>
                <a:spcPts val="200"/>
              </a:spcAft>
            </a:pPr>
            <a:r>
              <a:rPr sz="600" b="0" i="0">
                <a:solidFill>
                  <a:srgbClr val="323232"/>
                </a:solidFill>
                <a:latin typeface="Calibri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323232"/>
                </a:solidFill>
                <a:latin typeface="Calibri"/>
              </a:rPr>
              <a:t>Data Fetcher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323232"/>
                </a:solidFill>
                <a:latin typeface="Calibri"/>
              </a:rPr>
              <a:t>WAQI API + Open-Meteo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323232"/>
                </a:solidFill>
                <a:latin typeface="Calibri"/>
              </a:rPr>
              <a:t>Live AQI + 7-day PM2.5 history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2514600" y="1005840"/>
            <a:ext cx="1920240" cy="3931920"/>
          </a:xfrm>
          <a:prstGeom prst="rect">
            <a:avLst/>
          </a:prstGeom>
          <a:solidFill>
            <a:srgbClr val="F0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F2850"/>
                </a:solidFill>
                <a:latin typeface="Calibri"/>
              </a:rPr>
              <a:t>Agent 2</a:t>
            </a:r>
          </a:p>
          <a:p>
            <a:pPr algn="l">
              <a:spcAft>
                <a:spcPts val="200"/>
              </a:spcAft>
            </a:pPr>
            <a:r>
              <a:rPr sz="600" b="0" i="0">
                <a:solidFill>
                  <a:srgbClr val="323232"/>
                </a:solidFill>
                <a:latin typeface="Calibri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323232"/>
                </a:solidFill>
                <a:latin typeface="Calibri"/>
              </a:rPr>
              <a:t>ML Predictor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323232"/>
                </a:solidFill>
                <a:latin typeface="Calibri"/>
              </a:rPr>
              <a:t>Random Forest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323232"/>
                </a:solidFill>
                <a:latin typeface="Calibri"/>
              </a:rPr>
              <a:t>Risk: Low / Moderate / High</a:t>
            </a:r>
          </a:p>
        </p:txBody>
      </p:sp>
      <p:sp>
        <p:nvSpPr>
          <p:cNvPr id="6" name="Rectangle 5"/>
          <p:cNvSpPr/>
          <p:nvPr/>
        </p:nvSpPr>
        <p:spPr>
          <a:xfrm>
            <a:off x="4663440" y="1005840"/>
            <a:ext cx="1920240" cy="3931920"/>
          </a:xfrm>
          <a:prstGeom prst="rect">
            <a:avLst/>
          </a:prstGeom>
          <a:solidFill>
            <a:srgbClr val="F0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F2850"/>
                </a:solidFill>
                <a:latin typeface="Calibri"/>
              </a:rPr>
              <a:t>Agent 3</a:t>
            </a:r>
          </a:p>
          <a:p>
            <a:pPr algn="l">
              <a:spcAft>
                <a:spcPts val="200"/>
              </a:spcAft>
            </a:pPr>
            <a:r>
              <a:rPr sz="600" b="0" i="0">
                <a:solidFill>
                  <a:srgbClr val="323232"/>
                </a:solidFill>
                <a:latin typeface="Calibri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323232"/>
                </a:solidFill>
                <a:latin typeface="Calibri"/>
              </a:rPr>
              <a:t>Advisor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323232"/>
                </a:solidFill>
                <a:latin typeface="Calibri"/>
              </a:rPr>
              <a:t>IBM Granite 4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323232"/>
                </a:solidFill>
                <a:latin typeface="Calibri"/>
              </a:rPr>
              <a:t>WatsonX Frankfurt</a:t>
            </a:r>
          </a:p>
        </p:txBody>
      </p:sp>
      <p:sp>
        <p:nvSpPr>
          <p:cNvPr id="7" name="Rectangle 6"/>
          <p:cNvSpPr/>
          <p:nvPr/>
        </p:nvSpPr>
        <p:spPr>
          <a:xfrm>
            <a:off x="6812280" y="1005840"/>
            <a:ext cx="1920240" cy="3931920"/>
          </a:xfrm>
          <a:prstGeom prst="rect">
            <a:avLst/>
          </a:prstGeom>
          <a:solidFill>
            <a:srgbClr val="F0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F2850"/>
                </a:solidFill>
                <a:latin typeface="Calibri"/>
              </a:rPr>
              <a:t>Agent 4</a:t>
            </a:r>
          </a:p>
          <a:p>
            <a:pPr algn="l">
              <a:spcAft>
                <a:spcPts val="200"/>
              </a:spcAft>
            </a:pPr>
            <a:r>
              <a:rPr sz="600" b="0" i="0">
                <a:solidFill>
                  <a:srgbClr val="323232"/>
                </a:solidFill>
                <a:latin typeface="Calibri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323232"/>
                </a:solidFill>
                <a:latin typeface="Calibri"/>
              </a:rPr>
              <a:t>Reporter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323232"/>
                </a:solidFill>
                <a:latin typeface="Calibri"/>
              </a:rPr>
              <a:t>WHO 2021 checks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323232"/>
                </a:solidFill>
                <a:latin typeface="Calibri"/>
              </a:rPr>
              <a:t>PDF report</a:t>
            </a:r>
          </a:p>
        </p:txBody>
      </p:sp>
      <p:sp>
        <p:nvSpPr>
          <p:cNvPr id="8" name="Rectangle 7"/>
          <p:cNvSpPr/>
          <p:nvPr/>
        </p:nvSpPr>
        <p:spPr>
          <a:xfrm>
            <a:off x="8961120" y="1005840"/>
            <a:ext cx="1920240" cy="3931920"/>
          </a:xfrm>
          <a:prstGeom prst="rect">
            <a:avLst/>
          </a:prstGeom>
          <a:solidFill>
            <a:srgbClr val="F0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F2850"/>
                </a:solidFill>
                <a:latin typeface="Calibri"/>
              </a:rPr>
              <a:t>Output</a:t>
            </a:r>
          </a:p>
          <a:p>
            <a:pPr algn="l">
              <a:spcAft>
                <a:spcPts val="200"/>
              </a:spcAft>
            </a:pPr>
            <a:r>
              <a:rPr sz="600" b="0" i="0">
                <a:solidFill>
                  <a:srgbClr val="323232"/>
                </a:solidFill>
                <a:latin typeface="Calibri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323232"/>
                </a:solidFill>
                <a:latin typeface="Calibri"/>
              </a:rPr>
              <a:t>Streamlit Dashboard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323232"/>
                </a:solidFill>
                <a:latin typeface="Calibri"/>
              </a:rPr>
              <a:t>AQI gauge + Charts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323232"/>
                </a:solidFill>
                <a:latin typeface="Calibri"/>
              </a:rPr>
              <a:t>Downloadable PDF</a:t>
            </a:r>
          </a:p>
        </p:txBody>
      </p:sp>
      <p:sp>
        <p:nvSpPr>
          <p:cNvPr id="9" name="Rectangle 8"/>
          <p:cNvSpPr/>
          <p:nvPr/>
        </p:nvSpPr>
        <p:spPr>
          <a:xfrm>
            <a:off x="2304288" y="2916936"/>
            <a:ext cx="274320" cy="109728"/>
          </a:xfrm>
          <a:prstGeom prst="rect">
            <a:avLst/>
          </a:prstGeom>
          <a:solidFill>
            <a:srgbClr val="0F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53128" y="2916936"/>
            <a:ext cx="274320" cy="109728"/>
          </a:xfrm>
          <a:prstGeom prst="rect">
            <a:avLst/>
          </a:prstGeom>
          <a:solidFill>
            <a:srgbClr val="0F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601968" y="2916936"/>
            <a:ext cx="274320" cy="109728"/>
          </a:xfrm>
          <a:prstGeom prst="rect">
            <a:avLst/>
          </a:prstGeom>
          <a:solidFill>
            <a:srgbClr val="0F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50808" y="2916936"/>
            <a:ext cx="274320" cy="109728"/>
          </a:xfrm>
          <a:prstGeom prst="rect">
            <a:avLst/>
          </a:prstGeom>
          <a:solidFill>
            <a:srgbClr val="0F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51206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646464"/>
                </a:solidFill>
                <a:latin typeface="Calibri"/>
              </a:rPr>
              <a:t>Stack: Python  ·  Streamlit  ·  scikit-learn  ·  IBM Granite 4 (WatsonX)  ·  WAQI API  ·  WHO 2021 Guidelines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46520"/>
            <a:ext cx="12188952" cy="320040"/>
          </a:xfrm>
          <a:prstGeom prst="rect">
            <a:avLst/>
          </a:prstGeom>
          <a:solidFill>
            <a:srgbClr val="0F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1M1B AI for Sustainability  ·  IBM SkillsBuild + AICTE  ·  Shreenivas S B  ·  Dayananda Sagar University, Bangalore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F2850"/>
                </a:solidFill>
                <a:latin typeface="Calibri"/>
              </a:rPr>
              <a:t>Target Users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04672"/>
            <a:ext cx="11430000" cy="22860"/>
          </a:xfrm>
          <a:prstGeom prst="rect">
            <a:avLst/>
          </a:prstGeom>
          <a:solidFill>
            <a:srgbClr val="0F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5394960" cy="2423160"/>
          </a:xfrm>
          <a:prstGeom prst="rect">
            <a:avLst/>
          </a:prstGeom>
          <a:solidFill>
            <a:srgbClr val="F0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2850"/>
                </a:solidFill>
                <a:latin typeface="Calibri"/>
              </a:rPr>
              <a:t>General Public</a:t>
            </a:r>
          </a:p>
          <a:p>
            <a:pPr algn="l">
              <a:spcAft>
                <a:spcPts val="200"/>
              </a:spcAft>
            </a:pPr>
            <a:r>
              <a:rPr sz="600" b="0" i="0">
                <a:solidFill>
                  <a:srgbClr val="323232"/>
                </a:solidFill>
                <a:latin typeface="Calibri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323232"/>
                </a:solidFill>
                <a:latin typeface="Calibri"/>
              </a:rPr>
              <a:t>Citizens seeking real-time AQI information and daily outdoor activity guidance.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0" y="1005840"/>
            <a:ext cx="5394960" cy="2423160"/>
          </a:xfrm>
          <a:prstGeom prst="rect">
            <a:avLst/>
          </a:prstGeom>
          <a:solidFill>
            <a:srgbClr val="F0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2850"/>
                </a:solidFill>
                <a:latin typeface="Calibri"/>
              </a:rPr>
              <a:t>Vulnerable Groups</a:t>
            </a:r>
          </a:p>
          <a:p>
            <a:pPr algn="l">
              <a:spcAft>
                <a:spcPts val="200"/>
              </a:spcAft>
            </a:pPr>
            <a:r>
              <a:rPr sz="600" b="0" i="0">
                <a:solidFill>
                  <a:srgbClr val="323232"/>
                </a:solidFill>
                <a:latin typeface="Calibri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323232"/>
                </a:solidFill>
                <a:latin typeface="Calibri"/>
              </a:rPr>
              <a:t>Children, elderly, pregnant women, asthma/COPD patients needing cautious, tailored advisories.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3657600"/>
            <a:ext cx="5394960" cy="2423160"/>
          </a:xfrm>
          <a:prstGeom prst="rect">
            <a:avLst/>
          </a:prstGeom>
          <a:solidFill>
            <a:srgbClr val="F0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2850"/>
                </a:solidFill>
                <a:latin typeface="Calibri"/>
              </a:rPr>
              <a:t>ASHA Workers &amp; Health Volunteers</a:t>
            </a:r>
          </a:p>
          <a:p>
            <a:pPr algn="l">
              <a:spcAft>
                <a:spcPts val="200"/>
              </a:spcAft>
            </a:pPr>
            <a:r>
              <a:rPr sz="600" b="0" i="0">
                <a:solidFill>
                  <a:srgbClr val="323232"/>
                </a:solidFill>
                <a:latin typeface="Calibri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323232"/>
                </a:solidFill>
                <a:latin typeface="Calibri"/>
              </a:rPr>
              <a:t>Frontline workers using AirSeva to counsel vulnerable households and run awareness campaigns.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3657600"/>
            <a:ext cx="5394960" cy="2423160"/>
          </a:xfrm>
          <a:prstGeom prst="rect">
            <a:avLst/>
          </a:prstGeom>
          <a:solidFill>
            <a:srgbClr val="F0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2850"/>
                </a:solidFill>
                <a:latin typeface="Calibri"/>
              </a:rPr>
              <a:t>Urban Local Bodies &amp; Policy Makers</a:t>
            </a:r>
          </a:p>
          <a:p>
            <a:pPr algn="l">
              <a:spcAft>
                <a:spcPts val="200"/>
              </a:spcAft>
            </a:pPr>
            <a:r>
              <a:rPr sz="600" b="0" i="0">
                <a:solidFill>
                  <a:srgbClr val="323232"/>
                </a:solidFill>
                <a:latin typeface="Calibri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323232"/>
                </a:solidFill>
                <a:latin typeface="Calibri"/>
              </a:rPr>
              <a:t>Municipal teams referencing city-level AQI trends to inform public health advisories and policy.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88952" cy="320040"/>
          </a:xfrm>
          <a:prstGeom prst="rect">
            <a:avLst/>
          </a:prstGeom>
          <a:solidFill>
            <a:srgbClr val="0F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1M1B AI for Sustainability  ·  IBM SkillsBuild + AICTE  ·  Shreenivas S B  ·  Dayananda Sagar University, Bangalore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F2850"/>
                </a:solidFill>
                <a:latin typeface="Calibri"/>
              </a:rPr>
              <a:t>Responsible AI Considerations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04672"/>
            <a:ext cx="11430000" cy="22860"/>
          </a:xfrm>
          <a:prstGeom prst="rect">
            <a:avLst/>
          </a:prstGeom>
          <a:solidFill>
            <a:srgbClr val="0F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5394960" cy="2423160"/>
          </a:xfrm>
          <a:prstGeom prst="rect">
            <a:avLst/>
          </a:prstGeom>
          <a:solidFill>
            <a:srgbClr val="F0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2850"/>
                </a:solidFill>
                <a:latin typeface="Calibri"/>
              </a:rPr>
              <a:t>Fairness</a:t>
            </a:r>
          </a:p>
          <a:p>
            <a:pPr algn="l">
              <a:spcAft>
                <a:spcPts val="200"/>
              </a:spcAft>
            </a:pPr>
            <a:r>
              <a:rPr sz="600" b="0" i="0">
                <a:solidFill>
                  <a:srgbClr val="323232"/>
                </a:solidFill>
                <a:latin typeface="Calibri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323232"/>
                </a:solidFill>
                <a:latin typeface="Calibri"/>
              </a:rPr>
              <a:t>WHO 2021 standards applied equally across all 26 cities — metro, Tier-2, and Tier-3. No metro-centric bias.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0" y="1005840"/>
            <a:ext cx="5394960" cy="2423160"/>
          </a:xfrm>
          <a:prstGeom prst="rect">
            <a:avLst/>
          </a:prstGeom>
          <a:solidFill>
            <a:srgbClr val="F0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2850"/>
                </a:solidFill>
                <a:latin typeface="Calibri"/>
              </a:rPr>
              <a:t>Transparency</a:t>
            </a:r>
          </a:p>
          <a:p>
            <a:pPr algn="l">
              <a:spcAft>
                <a:spcPts val="200"/>
              </a:spcAft>
            </a:pPr>
            <a:r>
              <a:rPr sz="600" b="0" i="0">
                <a:solidFill>
                  <a:srgbClr val="323232"/>
                </a:solidFill>
                <a:latin typeface="Calibri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323232"/>
                </a:solidFill>
                <a:latin typeface="Calibri"/>
              </a:rPr>
              <a:t>All agent outputs (pollutant data, ML prediction, advisory) are shown explicitly. No black-box responses.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3657600"/>
            <a:ext cx="5394960" cy="2423160"/>
          </a:xfrm>
          <a:prstGeom prst="rect">
            <a:avLst/>
          </a:prstGeom>
          <a:solidFill>
            <a:srgbClr val="F0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2850"/>
                </a:solidFill>
                <a:latin typeface="Calibri"/>
              </a:rPr>
              <a:t>Ethics</a:t>
            </a:r>
          </a:p>
          <a:p>
            <a:pPr algn="l">
              <a:spcAft>
                <a:spcPts val="200"/>
              </a:spcAft>
            </a:pPr>
            <a:r>
              <a:rPr sz="600" b="0" i="0">
                <a:solidFill>
                  <a:srgbClr val="323232"/>
                </a:solidFill>
                <a:latin typeface="Calibri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323232"/>
                </a:solidFill>
                <a:latin typeface="Calibri"/>
              </a:rPr>
              <a:t>Medical disclaimer displayed prominently. Advice framed as precautionary guidance, not medical prescription.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3657600"/>
            <a:ext cx="5394960" cy="2423160"/>
          </a:xfrm>
          <a:prstGeom prst="rect">
            <a:avLst/>
          </a:prstGeom>
          <a:solidFill>
            <a:srgbClr val="F0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2850"/>
                </a:solidFill>
                <a:latin typeface="Calibri"/>
              </a:rPr>
              <a:t>Privacy</a:t>
            </a:r>
          </a:p>
          <a:p>
            <a:pPr algn="l">
              <a:spcAft>
                <a:spcPts val="200"/>
              </a:spcAft>
            </a:pPr>
            <a:r>
              <a:rPr sz="600" b="0" i="0">
                <a:solidFill>
                  <a:srgbClr val="323232"/>
                </a:solidFill>
                <a:latin typeface="Calibri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323232"/>
                </a:solidFill>
                <a:latin typeface="Calibri"/>
              </a:rPr>
              <a:t>No personal data collected or stored. All data is public city-level AQI from open APIs. No user tracking.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88952" cy="320040"/>
          </a:xfrm>
          <a:prstGeom prst="rect">
            <a:avLst/>
          </a:prstGeom>
          <a:solidFill>
            <a:srgbClr val="0F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1M1B AI for Sustainability  ·  IBM SkillsBuild + AICTE  ·  Shreenivas S B  ·  Dayananda Sagar University, Bangalore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F2850"/>
                </a:solidFill>
                <a:latin typeface="Calibri"/>
              </a:rPr>
              <a:t>Expected Impact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04672"/>
            <a:ext cx="11430000" cy="22860"/>
          </a:xfrm>
          <a:prstGeom prst="rect">
            <a:avLst/>
          </a:prstGeom>
          <a:solidFill>
            <a:srgbClr val="0F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3566160" cy="4114800"/>
          </a:xfrm>
          <a:prstGeom prst="rect">
            <a:avLst/>
          </a:prstGeom>
          <a:solidFill>
            <a:srgbClr val="F0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2850"/>
                </a:solidFill>
                <a:latin typeface="Calibri"/>
              </a:rPr>
              <a:t>Scale</a:t>
            </a:r>
          </a:p>
          <a:p>
            <a:pPr algn="l">
              <a:spcAft>
                <a:spcPts val="200"/>
              </a:spcAft>
            </a:pPr>
            <a:r>
              <a:rPr sz="600" b="0" i="0">
                <a:solidFill>
                  <a:srgbClr val="323232"/>
                </a:solidFill>
                <a:latin typeface="Calibri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323232"/>
                </a:solidFill>
                <a:latin typeface="Calibri"/>
              </a:rPr>
              <a:t>26 Indian cities covered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323232"/>
                </a:solidFill>
                <a:latin typeface="Calibri"/>
              </a:rPr>
              <a:t>Metro + Tier-2 + Tier-3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323232"/>
                </a:solidFill>
                <a:latin typeface="Calibri"/>
              </a:rPr>
              <a:t>Equitable health access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4251960" y="1005840"/>
            <a:ext cx="3566160" cy="4114800"/>
          </a:xfrm>
          <a:prstGeom prst="rect">
            <a:avLst/>
          </a:prstGeom>
          <a:solidFill>
            <a:srgbClr val="F0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2850"/>
                </a:solidFill>
                <a:latin typeface="Calibri"/>
              </a:rPr>
              <a:t>Individual</a:t>
            </a:r>
          </a:p>
          <a:p>
            <a:pPr algn="l">
              <a:spcAft>
                <a:spcPts val="200"/>
              </a:spcAft>
            </a:pPr>
            <a:r>
              <a:rPr sz="600" b="0" i="0">
                <a:solidFill>
                  <a:srgbClr val="323232"/>
                </a:solidFill>
                <a:latin typeface="Calibri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323232"/>
                </a:solidFill>
                <a:latin typeface="Calibri"/>
              </a:rPr>
              <a:t>Personalised vulnerability scoring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323232"/>
                </a:solidFill>
                <a:latin typeface="Calibri"/>
              </a:rPr>
              <a:t>Actionable daily guidance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323232"/>
                </a:solidFill>
                <a:latin typeface="Calibri"/>
              </a:rPr>
              <a:t>Empowers health decisions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8138160" y="1005840"/>
            <a:ext cx="3566160" cy="4114800"/>
          </a:xfrm>
          <a:prstGeom prst="rect">
            <a:avLst/>
          </a:prstGeom>
          <a:solidFill>
            <a:srgbClr val="F0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2850"/>
                </a:solidFill>
                <a:latin typeface="Calibri"/>
              </a:rPr>
              <a:t>Community</a:t>
            </a:r>
          </a:p>
          <a:p>
            <a:pPr algn="l">
              <a:spcAft>
                <a:spcPts val="200"/>
              </a:spcAft>
            </a:pPr>
            <a:r>
              <a:rPr sz="600" b="0" i="0">
                <a:solidFill>
                  <a:srgbClr val="323232"/>
                </a:solidFill>
                <a:latin typeface="Calibri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323232"/>
                </a:solidFill>
                <a:latin typeface="Calibri"/>
              </a:rPr>
              <a:t>Supports ASHA worker outreach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323232"/>
                </a:solidFill>
                <a:latin typeface="Calibri"/>
              </a:rPr>
              <a:t>Informs municipal policy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323232"/>
                </a:solidFill>
                <a:latin typeface="Calibri"/>
              </a:rPr>
              <a:t>Builds pollution resilience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3035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1">
                <a:solidFill>
                  <a:srgbClr val="646464"/>
                </a:solidFill>
                <a:latin typeface="Calibri"/>
              </a:rPr>
              <a:t>Aligned with India’s national health and sustainability goals under SDG 3 and SDG 11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88952" cy="320040"/>
          </a:xfrm>
          <a:prstGeom prst="rect">
            <a:avLst/>
          </a:prstGeom>
          <a:solidFill>
            <a:srgbClr val="0F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1M1B AI for Sustainability  ·  IBM SkillsBuild + AICTE  ·  Shreenivas S B  ·  Dayananda Sagar University, Bangalore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F2850"/>
                </a:solidFill>
                <a:latin typeface="Calibri"/>
              </a:rPr>
              <a:t>Prototype &amp; 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04672"/>
            <a:ext cx="11430000" cy="22860"/>
          </a:xfrm>
          <a:prstGeom prst="rect">
            <a:avLst/>
          </a:prstGeom>
          <a:solidFill>
            <a:srgbClr val="0F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5394960" cy="4389120"/>
          </a:xfrm>
          <a:prstGeom prst="rect">
            <a:avLst/>
          </a:prstGeom>
          <a:solidFill>
            <a:srgbClr val="F0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2850"/>
                </a:solidFill>
                <a:latin typeface="Calibri"/>
              </a:rPr>
              <a:t>Agent Flow</a:t>
            </a:r>
          </a:p>
          <a:p>
            <a:pPr algn="l">
              <a:spcAft>
                <a:spcPts val="200"/>
              </a:spcAft>
            </a:pPr>
            <a:r>
              <a:rPr sz="600" b="0" i="0">
                <a:solidFill>
                  <a:srgbClr val="323232"/>
                </a:solidFill>
                <a:latin typeface="Calibri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323232"/>
                </a:solidFill>
                <a:latin typeface="Calibri"/>
              </a:rPr>
              <a:t>User selects city + health profile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323232"/>
                </a:solidFill>
                <a:latin typeface="Calibri"/>
              </a:rPr>
              <a:t>→  Agent 1: Fetches live AQI + pollutant data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323232"/>
                </a:solidFill>
                <a:latin typeface="Calibri"/>
              </a:rPr>
              <a:t>→  Agent 2: Random Forest predicts risk level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323232"/>
                </a:solidFill>
                <a:latin typeface="Calibri"/>
              </a:rPr>
              <a:t>→  Agent 3: IBM Granite 4 generates advisory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323232"/>
                </a:solidFill>
                <a:latin typeface="Calibri"/>
              </a:rPr>
              <a:t>→  Agent 4: Compiles PDF report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23232"/>
                </a:solidFill>
                <a:latin typeface="Calibri"/>
              </a:rPr>
              <a:t>→  Dashboard displays results + download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0" y="1005840"/>
            <a:ext cx="5394960" cy="4389120"/>
          </a:xfrm>
          <a:prstGeom prst="rect">
            <a:avLst/>
          </a:prstGeom>
          <a:solidFill>
            <a:srgbClr val="F0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2850"/>
                </a:solidFill>
                <a:latin typeface="Calibri"/>
              </a:rPr>
              <a:t>Key Features</a:t>
            </a:r>
          </a:p>
          <a:p>
            <a:pPr algn="l">
              <a:spcAft>
                <a:spcPts val="200"/>
              </a:spcAft>
            </a:pPr>
            <a:r>
              <a:rPr sz="600" b="0" i="0">
                <a:solidFill>
                  <a:srgbClr val="323232"/>
                </a:solidFill>
                <a:latin typeface="Calibri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323232"/>
                </a:solidFill>
                <a:latin typeface="Calibri"/>
              </a:rPr>
              <a:t>✔  GPS location detection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323232"/>
                </a:solidFill>
                <a:latin typeface="Calibri"/>
              </a:rPr>
              <a:t>✔  26 Indian cities supported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323232"/>
                </a:solidFill>
                <a:latin typeface="Calibri"/>
              </a:rPr>
              <a:t>✔  WHO 2021 guideline comparison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323232"/>
                </a:solidFill>
                <a:latin typeface="Calibri"/>
              </a:rPr>
              <a:t>✔  Personalised vulnerability score (0–8)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323232"/>
                </a:solidFill>
                <a:latin typeface="Calibri"/>
              </a:rPr>
              <a:t>✔  AQI gauge + pollutant bar chart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323232"/>
                </a:solidFill>
                <a:latin typeface="Calibri"/>
              </a:rPr>
              <a:t>✔  IBM Granite 4 health advisory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323232"/>
                </a:solidFill>
                <a:latin typeface="Calibri"/>
              </a:rPr>
              <a:t>✔  Downloadable PDF report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23232"/>
                </a:solidFill>
                <a:latin typeface="Calibri"/>
              </a:rPr>
              <a:t>✔  Medical disclaimer included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5778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0F2850"/>
                </a:solidFill>
                <a:latin typeface="Calibri"/>
              </a:rPr>
              <a:t>Live App: https://airseva-4uzac5mbekkwmzvdt4rsux.streamlit.app   |   GitHub: https://github.com/ShreenivasSB/AirSeva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88952" cy="320040"/>
          </a:xfrm>
          <a:prstGeom prst="rect">
            <a:avLst/>
          </a:prstGeom>
          <a:solidFill>
            <a:srgbClr val="0F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1M1B AI for Sustainability  ·  IBM SkillsBuild + AICTE  ·  Shreenivas S B  ·  Dayananda Sagar University, Bangalore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F2850"/>
                </a:solidFill>
                <a:latin typeface="Calibri"/>
              </a:rPr>
              <a:t>Impact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04672"/>
            <a:ext cx="11430000" cy="22860"/>
          </a:xfrm>
          <a:prstGeom prst="rect">
            <a:avLst/>
          </a:prstGeom>
          <a:solidFill>
            <a:srgbClr val="0F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11430000" cy="2011680"/>
          </a:xfrm>
          <a:prstGeom prst="rect">
            <a:avLst/>
          </a:prstGeom>
          <a:solidFill>
            <a:srgbClr val="F0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spcAft>
                <a:spcPts val="400"/>
              </a:spcAft>
            </a:pPr>
            <a:r>
              <a:rPr sz="1500" b="0" i="1">
                <a:solidFill>
                  <a:srgbClr val="323232"/>
                </a:solidFill>
                <a:latin typeface="Calibri"/>
              </a:rPr>
              <a:t>AirSeva empowers individuals and communities to make informed, health-conscious decisions based on real-time air quality data across 26 Indian cities. By translating raw pollutant data into clear, actionable advisories, it bridges the gap between complex environmental monitoring and everyday public health behaviour.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3246120"/>
            <a:ext cx="5394960" cy="2011680"/>
          </a:xfrm>
          <a:prstGeom prst="rect">
            <a:avLst/>
          </a:prstGeom>
          <a:solidFill>
            <a:srgbClr val="F0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2850"/>
                </a:solidFill>
                <a:latin typeface="Calibri"/>
              </a:rPr>
              <a:t>Who Benefits</a:t>
            </a:r>
          </a:p>
          <a:p>
            <a:pPr algn="l">
              <a:spcAft>
                <a:spcPts val="200"/>
              </a:spcAft>
            </a:pPr>
            <a:r>
              <a:rPr sz="600" b="0" i="0">
                <a:solidFill>
                  <a:srgbClr val="323232"/>
                </a:solidFill>
                <a:latin typeface="Calibri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323232"/>
                </a:solidFill>
                <a:latin typeface="Calibri"/>
              </a:rPr>
              <a:t>Citizens  ·  Vulnerable groups  ·  ASHA workers  ·  Urban local bodies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3246120"/>
            <a:ext cx="5394960" cy="2011680"/>
          </a:xfrm>
          <a:prstGeom prst="rect">
            <a:avLst/>
          </a:prstGeom>
          <a:solidFill>
            <a:srgbClr val="F0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2850"/>
                </a:solidFill>
                <a:latin typeface="Calibri"/>
              </a:rPr>
              <a:t>What Changes</a:t>
            </a:r>
          </a:p>
          <a:p>
            <a:pPr algn="l">
              <a:spcAft>
                <a:spcPts val="200"/>
              </a:spcAft>
            </a:pPr>
            <a:r>
              <a:rPr sz="600" b="0" i="0">
                <a:solidFill>
                  <a:srgbClr val="323232"/>
                </a:solidFill>
                <a:latin typeface="Calibri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323232"/>
                </a:solidFill>
                <a:latin typeface="Calibri"/>
              </a:rPr>
              <a:t>Reduced gap between AQI data and public action  ·  Proactive health behaviour  ·  Supports India’s SDG 3 + SDG 11 goals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4406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646464"/>
                </a:solidFill>
                <a:latin typeface="Calibri"/>
              </a:rPr>
              <a:t>Built with IBM Granite 4  ·  WatsonX AI  ·  Random Forest ML  ·  WAQI API  ·  WHO 2021 Standards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88952" cy="320040"/>
          </a:xfrm>
          <a:prstGeom prst="rect">
            <a:avLst/>
          </a:prstGeom>
          <a:solidFill>
            <a:srgbClr val="0F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1M1B AI for Sustainability  ·  IBM SkillsBuild + AICTE  ·  Shreenivas S B  ·  Dayananda Sagar University, Bangalore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