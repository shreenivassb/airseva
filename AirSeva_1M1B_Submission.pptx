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4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127455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1A3A5C"/>
                </a:solidFill>
                <a:latin typeface="Calibri"/>
              </a:rPr>
              <a:t>🌫️ AirSeva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>
                <a:solidFill>
                  <a:srgbClr val="2C5282"/>
                </a:solidFill>
                <a:latin typeface="Calibri"/>
              </a:rPr>
              <a:t>Agentic Air Quality Health Advisory System for Indian Communities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7180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2C5282"/>
                </a:solidFill>
                <a:latin typeface="Calibri"/>
              </a:rPr>
              <a:t>Shreenivas S B</a:t>
            </a:r>
          </a:p>
          <a:p>
            <a:pPr algn="ctr"/>
            <a:r>
              <a:rPr sz="1400">
                <a:solidFill>
                  <a:srgbClr val="2C5282"/>
                </a:solidFill>
                <a:latin typeface="Calibri"/>
              </a:rPr>
              <a:t>Dayananda Sagar University, Bangalore | MCA - Data Science</a:t>
            </a:r>
          </a:p>
          <a:p>
            <a:pPr algn="ctr"/>
            <a:r>
              <a:rPr sz="1400">
                <a:solidFill>
                  <a:srgbClr val="2C5282"/>
                </a:solidFill>
                <a:latin typeface="Calibri"/>
              </a:rPr>
              <a:t>1M1B AI for Sustainability . IBM SkillsBuild + AICTE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5303520"/>
            <a:ext cx="7616952" cy="594360"/>
          </a:xfrm>
          <a:prstGeom prst="roundRect">
            <a:avLst/>
          </a:prstGeom>
          <a:solidFill>
            <a:srgbClr val="DBEAFE"/>
          </a:solidFill>
          <a:ln w="19050">
            <a:solidFill>
              <a:srgbClr val="63B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>
                <a:solidFill>
                  <a:srgbClr val="1A3A5C"/>
                </a:solidFill>
                <a:latin typeface="Calibri"/>
              </a:rPr>
              <a:t>Live App: https://airseva-4uzac5mbekkwmzvdt4rsux.streamlit.app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3A5C"/>
          </a:solidFill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FFFFFF"/>
                </a:solidFill>
                <a:latin typeface="Calibri"/>
              </a:rPr>
              <a:t>1M1B AI for Sustainability · IBM SkillsBuild + AICTE · Shreenivas S B · Dayananda Sagar University, Bangalore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4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114574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3A5C"/>
                </a:solidFill>
                <a:latin typeface="Calibri"/>
              </a:rPr>
              <a:t>SDG Alignment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5394960" cy="5029200"/>
          </a:xfrm>
          <a:prstGeom prst="roundRect">
            <a:avLst/>
          </a:prstGeom>
          <a:solidFill>
            <a:srgbClr val="DBEAFE"/>
          </a:solidFill>
          <a:ln w="19050">
            <a:solidFill>
              <a:srgbClr val="63B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>
                <a:solidFill>
                  <a:srgbClr val="1A3A5C"/>
                </a:solidFill>
                <a:latin typeface="Calibri"/>
              </a:rPr>
              <a:t>SDG 3 - Good Health &amp; Well-Being</a:t>
            </a:r>
          </a:p>
          <a:p>
            <a:pPr algn="l"/>
            <a:r>
              <a:rPr sz="1300" b="0">
                <a:solidFill>
                  <a:srgbClr val="1A3A5C"/>
                </a:solidFill>
                <a:latin typeface="Calibri"/>
              </a:rPr>
              <a:t/>
            </a:r>
          </a:p>
          <a:p>
            <a:pPr algn="l"/>
            <a:r>
              <a:rPr sz="1300" b="0">
                <a:solidFill>
                  <a:srgbClr val="1A3A5C"/>
                </a:solidFill>
                <a:latin typeface="Calibri"/>
              </a:rPr>
              <a:t>AirSeva delivers real-time, personalised air quality health advisories to help Indian communities - especially vulnerable groups - protect their health during high pollution periods.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36792" y="1188720"/>
            <a:ext cx="5394960" cy="5029200"/>
          </a:xfrm>
          <a:prstGeom prst="roundRect">
            <a:avLst/>
          </a:prstGeom>
          <a:solidFill>
            <a:srgbClr val="DBEAFE"/>
          </a:solidFill>
          <a:ln w="19050">
            <a:solidFill>
              <a:srgbClr val="63B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>
                <a:solidFill>
                  <a:srgbClr val="1A3A5C"/>
                </a:solidFill>
                <a:latin typeface="Calibri"/>
              </a:rPr>
              <a:t>SDG 11 - Sustainable Cities &amp; Communities</a:t>
            </a:r>
          </a:p>
          <a:p>
            <a:pPr algn="l"/>
            <a:r>
              <a:rPr sz="1300" b="0">
                <a:solidFill>
                  <a:srgbClr val="1A3A5C"/>
                </a:solidFill>
                <a:latin typeface="Calibri"/>
              </a:rPr>
              <a:t/>
            </a:r>
          </a:p>
          <a:p>
            <a:pPr algn="l"/>
            <a:r>
              <a:rPr sz="1300" b="0">
                <a:solidFill>
                  <a:srgbClr val="1A3A5C"/>
                </a:solidFill>
                <a:latin typeface="Calibri"/>
              </a:rPr>
              <a:t>By covering 26 Indian cities including Tier-2 and Tier-3 locations, AirSeva promotes equitable access to environmental health information, supporting more sustainable and resilient urban communities.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3A5C"/>
          </a:solidFill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FFFFFF"/>
                </a:solidFill>
                <a:latin typeface="Calibri"/>
              </a:rPr>
              <a:t>1M1B AI for Sustainability · IBM SkillsBuild + AICTE · Shreenivas S B · Dayananda Sagar University, Bangalore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4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114574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3A5C"/>
                </a:solidFill>
                <a:latin typeface="Calibri"/>
              </a:rPr>
              <a:t>Problem Statement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43000"/>
            <a:ext cx="11274552" cy="1554480"/>
          </a:xfrm>
          <a:prstGeom prst="roundRect">
            <a:avLst/>
          </a:prstGeom>
          <a:solidFill>
            <a:srgbClr val="DBEAFE"/>
          </a:solidFill>
          <a:ln w="19050">
            <a:solidFill>
              <a:srgbClr val="63B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 i="1">
                <a:solidFill>
                  <a:srgbClr val="1A3A5C"/>
                </a:solidFill>
                <a:latin typeface="Calibri"/>
              </a:rPr>
              <a:t>How might we use AI to provide accessible, real-time, and location-specific air quality health advisories so that communities across India - especially vulnerable groups - can take timely precautions and become more resilient to air pollution?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971800"/>
            <a:ext cx="3566160" cy="3154680"/>
          </a:xfrm>
          <a:prstGeom prst="roundRect">
            <a:avLst/>
          </a:prstGeom>
          <a:solidFill>
            <a:srgbClr val="DBEAFE"/>
          </a:solidFill>
          <a:ln w="19050">
            <a:solidFill>
              <a:srgbClr val="63B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>
                <a:solidFill>
                  <a:srgbClr val="1A3A5C"/>
                </a:solidFill>
                <a:latin typeface="Calibri"/>
              </a:rPr>
              <a:t>The Gap</a:t>
            </a:r>
          </a:p>
          <a:p>
            <a:pPr algn="l"/>
            <a:r>
              <a:rPr sz="1200" b="0">
                <a:solidFill>
                  <a:srgbClr val="1A3A5C"/>
                </a:solidFill>
                <a:latin typeface="Calibri"/>
              </a:rPr>
              <a:t/>
            </a:r>
          </a:p>
          <a:p>
            <a:pPr algn="l"/>
            <a:r>
              <a:rPr sz="1200" b="0">
                <a:solidFill>
                  <a:srgbClr val="1A3A5C"/>
                </a:solidFill>
                <a:latin typeface="Calibri"/>
              </a:rPr>
              <a:t>300M+ Indians exposed to hazardous AQI levels annually. Existing tools show raw AQI numbers with no health guidance.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61104" y="2971800"/>
            <a:ext cx="3566160" cy="3154680"/>
          </a:xfrm>
          <a:prstGeom prst="roundRect">
            <a:avLst/>
          </a:prstGeom>
          <a:solidFill>
            <a:srgbClr val="DBEAFE"/>
          </a:solidFill>
          <a:ln w="19050">
            <a:solidFill>
              <a:srgbClr val="63B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>
                <a:solidFill>
                  <a:srgbClr val="1A3A5C"/>
                </a:solidFill>
                <a:latin typeface="Calibri"/>
              </a:rPr>
              <a:t>The Vulnerable</a:t>
            </a:r>
          </a:p>
          <a:p>
            <a:pPr algn="l"/>
            <a:r>
              <a:rPr sz="1200" b="0">
                <a:solidFill>
                  <a:srgbClr val="1A3A5C"/>
                </a:solidFill>
                <a:latin typeface="Calibri"/>
              </a:rPr>
              <a:t/>
            </a:r>
          </a:p>
          <a:p>
            <a:pPr algn="l"/>
            <a:r>
              <a:rPr sz="1200" b="0">
                <a:solidFill>
                  <a:srgbClr val="1A3A5C"/>
                </a:solidFill>
                <a:latin typeface="Calibri"/>
              </a:rPr>
              <a:t>Children, elderly, asthma patients, and outdoor workers face disproportionate health risk from air pollution.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65008" y="2971800"/>
            <a:ext cx="3566160" cy="3154680"/>
          </a:xfrm>
          <a:prstGeom prst="roundRect">
            <a:avLst/>
          </a:prstGeom>
          <a:solidFill>
            <a:srgbClr val="DBEAFE"/>
          </a:solidFill>
          <a:ln w="19050">
            <a:solidFill>
              <a:srgbClr val="63B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>
                <a:solidFill>
                  <a:srgbClr val="1A3A5C"/>
                </a:solidFill>
                <a:latin typeface="Calibri"/>
              </a:rPr>
              <a:t>The Need</a:t>
            </a:r>
          </a:p>
          <a:p>
            <a:pPr algn="l"/>
            <a:r>
              <a:rPr sz="1200" b="0">
                <a:solidFill>
                  <a:srgbClr val="1A3A5C"/>
                </a:solidFill>
                <a:latin typeface="Calibri"/>
              </a:rPr>
              <a:t/>
            </a:r>
          </a:p>
          <a:p>
            <a:pPr algn="l"/>
            <a:r>
              <a:rPr sz="1200" b="0">
                <a:solidFill>
                  <a:srgbClr val="1A3A5C"/>
                </a:solidFill>
                <a:latin typeface="Calibri"/>
              </a:rPr>
              <a:t>A system that translates raw pollutant data into clear, personalised, actionable health advice - in real time.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3A5C"/>
          </a:solidFill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FFFFFF"/>
                </a:solidFill>
                <a:latin typeface="Calibri"/>
              </a:rPr>
              <a:t>1M1B AI for Sustainability · IBM SkillsBuild + AICTE · Shreenivas S B · Dayananda Sagar University, Bangalore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4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114574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3A5C"/>
                </a:solidFill>
                <a:latin typeface="Calibri"/>
              </a:rPr>
              <a:t>AI Solution - 4-Agent Pipeline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25196" y="1280160"/>
            <a:ext cx="2011680" cy="3474720"/>
          </a:xfrm>
          <a:prstGeom prst="roundRect">
            <a:avLst/>
          </a:prstGeom>
          <a:solidFill>
            <a:srgbClr val="DBEAFE"/>
          </a:solidFill>
          <a:ln w="19050">
            <a:solidFill>
              <a:srgbClr val="63B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A3A5C"/>
                </a:solidFill>
                <a:latin typeface="Calibri"/>
              </a:rPr>
              <a:t>📡 Agent 1</a:t>
            </a:r>
          </a:p>
          <a:p>
            <a:pPr algn="ctr"/>
            <a:r>
              <a:rPr sz="1100" b="0">
                <a:solidFill>
                  <a:srgbClr val="1A3A5C"/>
                </a:solidFill>
                <a:latin typeface="Calibri"/>
              </a:rPr>
              <a:t>Data Fetcher</a:t>
            </a:r>
          </a:p>
          <a:p>
            <a:pPr algn="ctr"/>
            <a:r>
              <a:rPr sz="1100" b="0">
                <a:solidFill>
                  <a:srgbClr val="1A3A5C"/>
                </a:solidFill>
                <a:latin typeface="Calibri"/>
              </a:rPr>
              <a:t>WAQI API + Open-Meteo</a:t>
            </a:r>
          </a:p>
          <a:p>
            <a:pPr algn="ctr"/>
            <a:r>
              <a:rPr sz="1100" b="0">
                <a:solidFill>
                  <a:srgbClr val="1A3A5C"/>
                </a:solidFill>
                <a:latin typeface="Calibri"/>
              </a:rPr>
              <a:t>Live AQI + 7-day PM2.5 history</a:t>
            </a:r>
          </a:p>
        </p:txBody>
      </p:sp>
      <p:sp>
        <p:nvSpPr>
          <p:cNvPr id="4" name="Can 3"/>
          <p:cNvSpPr/>
          <p:nvPr/>
        </p:nvSpPr>
        <p:spPr>
          <a:xfrm>
            <a:off x="2436876" y="2880360"/>
            <a:ext cx="320040" cy="274320"/>
          </a:xfrm>
          <a:prstGeom prst="can">
            <a:avLst/>
          </a:prstGeom>
          <a:solidFill>
            <a:srgbClr val="63B3ED"/>
          </a:solidFill>
          <a:ln>
            <a:solidFill>
              <a:srgbClr val="63B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756916" y="1280160"/>
            <a:ext cx="2011680" cy="3474720"/>
          </a:xfrm>
          <a:prstGeom prst="roundRect">
            <a:avLst/>
          </a:prstGeom>
          <a:solidFill>
            <a:srgbClr val="DBEAFE"/>
          </a:solidFill>
          <a:ln w="19050">
            <a:solidFill>
              <a:srgbClr val="63B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A3A5C"/>
                </a:solidFill>
                <a:latin typeface="Calibri"/>
              </a:rPr>
              <a:t>🧠 Agent 2</a:t>
            </a:r>
          </a:p>
          <a:p>
            <a:pPr algn="ctr"/>
            <a:r>
              <a:rPr sz="1100" b="0">
                <a:solidFill>
                  <a:srgbClr val="1A3A5C"/>
                </a:solidFill>
                <a:latin typeface="Calibri"/>
              </a:rPr>
              <a:t>ML Predictor</a:t>
            </a:r>
          </a:p>
          <a:p>
            <a:pPr algn="ctr"/>
            <a:r>
              <a:rPr sz="1100" b="0">
                <a:solidFill>
                  <a:srgbClr val="1A3A5C"/>
                </a:solidFill>
                <a:latin typeface="Calibri"/>
              </a:rPr>
              <a:t>Random Forest</a:t>
            </a:r>
          </a:p>
          <a:p>
            <a:pPr algn="ctr"/>
            <a:r>
              <a:rPr sz="1100" b="0">
                <a:solidFill>
                  <a:srgbClr val="1A3A5C"/>
                </a:solidFill>
                <a:latin typeface="Calibri"/>
              </a:rPr>
              <a:t>Risk: Low / Moderate / High</a:t>
            </a:r>
          </a:p>
        </p:txBody>
      </p:sp>
      <p:sp>
        <p:nvSpPr>
          <p:cNvPr id="6" name="Can 5"/>
          <p:cNvSpPr/>
          <p:nvPr/>
        </p:nvSpPr>
        <p:spPr>
          <a:xfrm>
            <a:off x="4768596" y="2880360"/>
            <a:ext cx="320040" cy="274320"/>
          </a:xfrm>
          <a:prstGeom prst="can">
            <a:avLst/>
          </a:prstGeom>
          <a:solidFill>
            <a:srgbClr val="63B3ED"/>
          </a:solidFill>
          <a:ln>
            <a:solidFill>
              <a:srgbClr val="63B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88636" y="1280160"/>
            <a:ext cx="2011680" cy="3474720"/>
          </a:xfrm>
          <a:prstGeom prst="roundRect">
            <a:avLst/>
          </a:prstGeom>
          <a:solidFill>
            <a:srgbClr val="DBEAFE"/>
          </a:solidFill>
          <a:ln w="19050">
            <a:solidFill>
              <a:srgbClr val="63B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A3A5C"/>
                </a:solidFill>
                <a:latin typeface="Calibri"/>
              </a:rPr>
              <a:t>🔵 Agent 3</a:t>
            </a:r>
          </a:p>
          <a:p>
            <a:pPr algn="ctr"/>
            <a:r>
              <a:rPr sz="1100" b="0">
                <a:solidFill>
                  <a:srgbClr val="1A3A5C"/>
                </a:solidFill>
                <a:latin typeface="Calibri"/>
              </a:rPr>
              <a:t>Advisor</a:t>
            </a:r>
          </a:p>
          <a:p>
            <a:pPr algn="ctr"/>
            <a:r>
              <a:rPr sz="1100" b="0">
                <a:solidFill>
                  <a:srgbClr val="1A3A5C"/>
                </a:solidFill>
                <a:latin typeface="Calibri"/>
              </a:rPr>
              <a:t>IBM Granite 4</a:t>
            </a:r>
          </a:p>
          <a:p>
            <a:pPr algn="ctr"/>
            <a:r>
              <a:rPr sz="1100" b="0">
                <a:solidFill>
                  <a:srgbClr val="1A3A5C"/>
                </a:solidFill>
                <a:latin typeface="Calibri"/>
              </a:rPr>
              <a:t>WatsonX Frankfurt</a:t>
            </a:r>
          </a:p>
        </p:txBody>
      </p:sp>
      <p:sp>
        <p:nvSpPr>
          <p:cNvPr id="8" name="Can 7"/>
          <p:cNvSpPr/>
          <p:nvPr/>
        </p:nvSpPr>
        <p:spPr>
          <a:xfrm>
            <a:off x="7100316" y="2880360"/>
            <a:ext cx="320040" cy="274320"/>
          </a:xfrm>
          <a:prstGeom prst="can">
            <a:avLst/>
          </a:prstGeom>
          <a:solidFill>
            <a:srgbClr val="63B3ED"/>
          </a:solidFill>
          <a:ln>
            <a:solidFill>
              <a:srgbClr val="63B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420356" y="1280160"/>
            <a:ext cx="2011680" cy="3474720"/>
          </a:xfrm>
          <a:prstGeom prst="roundRect">
            <a:avLst/>
          </a:prstGeom>
          <a:solidFill>
            <a:srgbClr val="DBEAFE"/>
          </a:solidFill>
          <a:ln w="19050">
            <a:solidFill>
              <a:srgbClr val="63B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A3A5C"/>
                </a:solidFill>
                <a:latin typeface="Calibri"/>
              </a:rPr>
              <a:t>📋 Agent 4</a:t>
            </a:r>
          </a:p>
          <a:p>
            <a:pPr algn="ctr"/>
            <a:r>
              <a:rPr sz="1100" b="0">
                <a:solidFill>
                  <a:srgbClr val="1A3A5C"/>
                </a:solidFill>
                <a:latin typeface="Calibri"/>
              </a:rPr>
              <a:t>Reporter</a:t>
            </a:r>
          </a:p>
          <a:p>
            <a:pPr algn="ctr"/>
            <a:r>
              <a:rPr sz="1100" b="0">
                <a:solidFill>
                  <a:srgbClr val="1A3A5C"/>
                </a:solidFill>
                <a:latin typeface="Calibri"/>
              </a:rPr>
              <a:t>WHO 2021 checks</a:t>
            </a:r>
          </a:p>
          <a:p>
            <a:pPr algn="ctr"/>
            <a:r>
              <a:rPr sz="1100" b="0">
                <a:solidFill>
                  <a:srgbClr val="1A3A5C"/>
                </a:solidFill>
                <a:latin typeface="Calibri"/>
              </a:rPr>
              <a:t>PDF report</a:t>
            </a:r>
          </a:p>
        </p:txBody>
      </p:sp>
      <p:sp>
        <p:nvSpPr>
          <p:cNvPr id="10" name="Can 9"/>
          <p:cNvSpPr/>
          <p:nvPr/>
        </p:nvSpPr>
        <p:spPr>
          <a:xfrm>
            <a:off x="9432036" y="2880360"/>
            <a:ext cx="320040" cy="274320"/>
          </a:xfrm>
          <a:prstGeom prst="can">
            <a:avLst/>
          </a:prstGeom>
          <a:solidFill>
            <a:srgbClr val="63B3ED"/>
          </a:solidFill>
          <a:ln>
            <a:solidFill>
              <a:srgbClr val="63B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752076" y="1280160"/>
            <a:ext cx="2011680" cy="3474720"/>
          </a:xfrm>
          <a:prstGeom prst="roundRect">
            <a:avLst/>
          </a:prstGeom>
          <a:solidFill>
            <a:srgbClr val="DBEAFE"/>
          </a:solidFill>
          <a:ln w="19050">
            <a:solidFill>
              <a:srgbClr val="63B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A3A5C"/>
                </a:solidFill>
                <a:latin typeface="Calibri"/>
              </a:rPr>
              <a:t>📊 Output</a:t>
            </a:r>
          </a:p>
          <a:p>
            <a:pPr algn="ctr"/>
            <a:r>
              <a:rPr sz="1100" b="0">
                <a:solidFill>
                  <a:srgbClr val="1A3A5C"/>
                </a:solidFill>
                <a:latin typeface="Calibri"/>
              </a:rPr>
              <a:t>Streamlit Dashboard</a:t>
            </a:r>
          </a:p>
          <a:p>
            <a:pPr algn="ctr"/>
            <a:r>
              <a:rPr sz="1100" b="0">
                <a:solidFill>
                  <a:srgbClr val="1A3A5C"/>
                </a:solidFill>
                <a:latin typeface="Calibri"/>
              </a:rPr>
              <a:t>AQI gauge . Charts</a:t>
            </a:r>
          </a:p>
          <a:p>
            <a:pPr algn="ctr"/>
            <a:r>
              <a:rPr sz="1100" b="0">
                <a:solidFill>
                  <a:srgbClr val="1A3A5C"/>
                </a:solidFill>
                <a:latin typeface="Calibri"/>
              </a:rPr>
              <a:t>Downloadable PDF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98348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C5282"/>
                </a:solidFill>
                <a:latin typeface="Calibri"/>
              </a:rPr>
              <a:t>Stack: Python . Streamlit . scikit-learn . IBM Granite 4 (WatsonX) . WAQI API . WHO 2021 Guidelines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3A5C"/>
          </a:solidFill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FFFFFF"/>
                </a:solidFill>
                <a:latin typeface="Calibri"/>
              </a:rPr>
              <a:t>1M1B AI for Sustainability · IBM SkillsBuild + AICTE · Shreenivas S B · Dayananda Sagar University, Bangalore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4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114574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3A5C"/>
                </a:solidFill>
                <a:latin typeface="Calibri"/>
              </a:rPr>
              <a:t>Target Users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5394960" cy="2377440"/>
          </a:xfrm>
          <a:prstGeom prst="roundRect">
            <a:avLst/>
          </a:prstGeom>
          <a:solidFill>
            <a:srgbClr val="DBEAFE"/>
          </a:solidFill>
          <a:ln w="19050">
            <a:solidFill>
              <a:srgbClr val="63B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rgbClr val="1A3A5C"/>
                </a:solidFill>
                <a:latin typeface="Calibri"/>
              </a:rPr>
              <a:t>👥 General Public</a:t>
            </a:r>
          </a:p>
          <a:p>
            <a:pPr algn="l"/>
            <a:r>
              <a:rPr sz="1200" b="0">
                <a:solidFill>
                  <a:srgbClr val="1A3A5C"/>
                </a:solidFill>
                <a:latin typeface="Calibri"/>
              </a:rPr>
              <a:t/>
            </a:r>
          </a:p>
          <a:p>
            <a:pPr algn="l"/>
            <a:r>
              <a:rPr sz="1200" b="0">
                <a:solidFill>
                  <a:srgbClr val="1A3A5C"/>
                </a:solidFill>
                <a:latin typeface="Calibri"/>
              </a:rPr>
              <a:t>Citizens seeking real-time AQI information and daily outdoor activity guidance.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36792" y="1188720"/>
            <a:ext cx="5394960" cy="2377440"/>
          </a:xfrm>
          <a:prstGeom prst="roundRect">
            <a:avLst/>
          </a:prstGeom>
          <a:solidFill>
            <a:srgbClr val="DBEAFE"/>
          </a:solidFill>
          <a:ln w="19050">
            <a:solidFill>
              <a:srgbClr val="63B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rgbClr val="1A3A5C"/>
                </a:solidFill>
                <a:latin typeface="Calibri"/>
              </a:rPr>
              <a:t>🏥 Vulnerable Groups</a:t>
            </a:r>
          </a:p>
          <a:p>
            <a:pPr algn="l"/>
            <a:r>
              <a:rPr sz="1200" b="0">
                <a:solidFill>
                  <a:srgbClr val="1A3A5C"/>
                </a:solidFill>
                <a:latin typeface="Calibri"/>
              </a:rPr>
              <a:t/>
            </a:r>
          </a:p>
          <a:p>
            <a:pPr algn="l"/>
            <a:r>
              <a:rPr sz="1200" b="0">
                <a:solidFill>
                  <a:srgbClr val="1A3A5C"/>
                </a:solidFill>
                <a:latin typeface="Calibri"/>
              </a:rPr>
              <a:t>Children, elderly, pregnant women, asthma/COPD patients needing cautious, tailored advisories.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794760"/>
            <a:ext cx="5394960" cy="2377440"/>
          </a:xfrm>
          <a:prstGeom prst="roundRect">
            <a:avLst/>
          </a:prstGeom>
          <a:solidFill>
            <a:srgbClr val="DBEAFE"/>
          </a:solidFill>
          <a:ln w="19050">
            <a:solidFill>
              <a:srgbClr val="63B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rgbClr val="1A3A5C"/>
                </a:solidFill>
                <a:latin typeface="Calibri"/>
              </a:rPr>
              <a:t>🏘️ ASHA Workers &amp; Health Volunteers</a:t>
            </a:r>
          </a:p>
          <a:p>
            <a:pPr algn="l"/>
            <a:r>
              <a:rPr sz="1200" b="0">
                <a:solidFill>
                  <a:srgbClr val="1A3A5C"/>
                </a:solidFill>
                <a:latin typeface="Calibri"/>
              </a:rPr>
              <a:t/>
            </a:r>
          </a:p>
          <a:p>
            <a:pPr algn="l"/>
            <a:r>
              <a:rPr sz="1200" b="0">
                <a:solidFill>
                  <a:srgbClr val="1A3A5C"/>
                </a:solidFill>
                <a:latin typeface="Calibri"/>
              </a:rPr>
              <a:t>Frontline workers using AirSeva to counsel vulnerable households and run awareness campaigns.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36792" y="3794760"/>
            <a:ext cx="5394960" cy="2377440"/>
          </a:xfrm>
          <a:prstGeom prst="roundRect">
            <a:avLst/>
          </a:prstGeom>
          <a:solidFill>
            <a:srgbClr val="DBEAFE"/>
          </a:solidFill>
          <a:ln w="19050">
            <a:solidFill>
              <a:srgbClr val="63B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rgbClr val="1A3A5C"/>
                </a:solidFill>
                <a:latin typeface="Calibri"/>
              </a:rPr>
              <a:t>🏛️ Urban Local Bodies &amp; Policy Makers</a:t>
            </a:r>
          </a:p>
          <a:p>
            <a:pPr algn="l"/>
            <a:r>
              <a:rPr sz="1200" b="0">
                <a:solidFill>
                  <a:srgbClr val="1A3A5C"/>
                </a:solidFill>
                <a:latin typeface="Calibri"/>
              </a:rPr>
              <a:t/>
            </a:r>
          </a:p>
          <a:p>
            <a:pPr algn="l"/>
            <a:r>
              <a:rPr sz="1200" b="0">
                <a:solidFill>
                  <a:srgbClr val="1A3A5C"/>
                </a:solidFill>
                <a:latin typeface="Calibri"/>
              </a:rPr>
              <a:t>Municipal teams referencing city-level AQI trends to inform public health advisories and policy.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3A5C"/>
          </a:solidFill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FFFFFF"/>
                </a:solidFill>
                <a:latin typeface="Calibri"/>
              </a:rPr>
              <a:t>1M1B AI for Sustainability · IBM SkillsBuild + AICTE · Shreenivas S B · Dayananda Sagar University, Bangalore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4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114574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3A5C"/>
                </a:solidFill>
                <a:latin typeface="Calibri"/>
              </a:rPr>
              <a:t>Responsible AI Considerations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5394960" cy="2377440"/>
          </a:xfrm>
          <a:prstGeom prst="roundRect">
            <a:avLst/>
          </a:prstGeom>
          <a:solidFill>
            <a:srgbClr val="DBEAFE"/>
          </a:solidFill>
          <a:ln w="19050">
            <a:solidFill>
              <a:srgbClr val="63B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rgbClr val="1A3A5C"/>
                </a:solidFill>
                <a:latin typeface="Calibri"/>
              </a:rPr>
              <a:t>⚖️ Fairness</a:t>
            </a:r>
          </a:p>
          <a:p>
            <a:pPr algn="l"/>
            <a:r>
              <a:rPr sz="1200" b="0">
                <a:solidFill>
                  <a:srgbClr val="1A3A5C"/>
                </a:solidFill>
                <a:latin typeface="Calibri"/>
              </a:rPr>
              <a:t/>
            </a:r>
          </a:p>
          <a:p>
            <a:pPr algn="l"/>
            <a:r>
              <a:rPr sz="1200" b="0">
                <a:solidFill>
                  <a:srgbClr val="1A3A5C"/>
                </a:solidFill>
                <a:latin typeface="Calibri"/>
              </a:rPr>
              <a:t>WHO 2021 standards applied equally across all 26 cities - metro, Tier-2, and Tier-3. No metro-centric bias.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36792" y="1188720"/>
            <a:ext cx="5394960" cy="2377440"/>
          </a:xfrm>
          <a:prstGeom prst="roundRect">
            <a:avLst/>
          </a:prstGeom>
          <a:solidFill>
            <a:srgbClr val="DBEAFE"/>
          </a:solidFill>
          <a:ln w="19050">
            <a:solidFill>
              <a:srgbClr val="63B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rgbClr val="1A3A5C"/>
                </a:solidFill>
                <a:latin typeface="Calibri"/>
              </a:rPr>
              <a:t>🔍 Transparency</a:t>
            </a:r>
          </a:p>
          <a:p>
            <a:pPr algn="l"/>
            <a:r>
              <a:rPr sz="1200" b="0">
                <a:solidFill>
                  <a:srgbClr val="1A3A5C"/>
                </a:solidFill>
                <a:latin typeface="Calibri"/>
              </a:rPr>
              <a:t/>
            </a:r>
          </a:p>
          <a:p>
            <a:pPr algn="l"/>
            <a:r>
              <a:rPr sz="1200" b="0">
                <a:solidFill>
                  <a:srgbClr val="1A3A5C"/>
                </a:solidFill>
                <a:latin typeface="Calibri"/>
              </a:rPr>
              <a:t>All agent outputs (pollutant data, ML prediction, advisory) are shown explicitly. No black-box responses.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794760"/>
            <a:ext cx="5394960" cy="2377440"/>
          </a:xfrm>
          <a:prstGeom prst="roundRect">
            <a:avLst/>
          </a:prstGeom>
          <a:solidFill>
            <a:srgbClr val="DBEAFE"/>
          </a:solidFill>
          <a:ln w="19050">
            <a:solidFill>
              <a:srgbClr val="63B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rgbClr val="1A3A5C"/>
                </a:solidFill>
                <a:latin typeface="Calibri"/>
              </a:rPr>
              <a:t>🛡️ Ethics</a:t>
            </a:r>
          </a:p>
          <a:p>
            <a:pPr algn="l"/>
            <a:r>
              <a:rPr sz="1200" b="0">
                <a:solidFill>
                  <a:srgbClr val="1A3A5C"/>
                </a:solidFill>
                <a:latin typeface="Calibri"/>
              </a:rPr>
              <a:t/>
            </a:r>
          </a:p>
          <a:p>
            <a:pPr algn="l"/>
            <a:r>
              <a:rPr sz="1200" b="0">
                <a:solidFill>
                  <a:srgbClr val="1A3A5C"/>
                </a:solidFill>
                <a:latin typeface="Calibri"/>
              </a:rPr>
              <a:t>Medical disclaimer displayed prominently. Advice framed as precautionary guidance, not medical prescription.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36792" y="3794760"/>
            <a:ext cx="5394960" cy="2377440"/>
          </a:xfrm>
          <a:prstGeom prst="roundRect">
            <a:avLst/>
          </a:prstGeom>
          <a:solidFill>
            <a:srgbClr val="DBEAFE"/>
          </a:solidFill>
          <a:ln w="19050">
            <a:solidFill>
              <a:srgbClr val="63B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rgbClr val="1A3A5C"/>
                </a:solidFill>
                <a:latin typeface="Calibri"/>
              </a:rPr>
              <a:t>🔒 Privacy</a:t>
            </a:r>
          </a:p>
          <a:p>
            <a:pPr algn="l"/>
            <a:r>
              <a:rPr sz="1200" b="0">
                <a:solidFill>
                  <a:srgbClr val="1A3A5C"/>
                </a:solidFill>
                <a:latin typeface="Calibri"/>
              </a:rPr>
              <a:t/>
            </a:r>
          </a:p>
          <a:p>
            <a:pPr algn="l"/>
            <a:r>
              <a:rPr sz="1200" b="0">
                <a:solidFill>
                  <a:srgbClr val="1A3A5C"/>
                </a:solidFill>
                <a:latin typeface="Calibri"/>
              </a:rPr>
              <a:t>No personal data collected or stored. All data is public city-level AQI from open APIs. No user tracking.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3A5C"/>
          </a:solidFill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FFFFFF"/>
                </a:solidFill>
                <a:latin typeface="Calibri"/>
              </a:rPr>
              <a:t>1M1B AI for Sustainability · IBM SkillsBuild + AICTE · Shreenivas S B · Dayananda Sagar University, Bangalore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4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114574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3A5C"/>
                </a:solidFill>
                <a:latin typeface="Calibri"/>
              </a:rPr>
              <a:t>Expected Impact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3566160" cy="4114800"/>
          </a:xfrm>
          <a:prstGeom prst="roundRect">
            <a:avLst/>
          </a:prstGeom>
          <a:solidFill>
            <a:srgbClr val="DBEAFE"/>
          </a:solidFill>
          <a:ln w="19050">
            <a:solidFill>
              <a:srgbClr val="63B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A3A5C"/>
                </a:solidFill>
                <a:latin typeface="Calibri"/>
              </a:rPr>
              <a:t>🌍 Scale</a:t>
            </a:r>
          </a:p>
          <a:p>
            <a:pPr algn="ctr"/>
            <a:r>
              <a:rPr sz="1200" b="0">
                <a:solidFill>
                  <a:srgbClr val="1A3A5C"/>
                </a:solidFill>
                <a:latin typeface="Calibri"/>
              </a:rPr>
              <a:t/>
            </a:r>
          </a:p>
          <a:p>
            <a:pPr algn="ctr"/>
            <a:r>
              <a:rPr sz="1200" b="0">
                <a:solidFill>
                  <a:srgbClr val="1A3A5C"/>
                </a:solidFill>
                <a:latin typeface="Calibri"/>
              </a:rPr>
              <a:t>26 Indian cities covered</a:t>
            </a:r>
          </a:p>
          <a:p>
            <a:pPr algn="ctr"/>
            <a:r>
              <a:rPr sz="1200" b="0">
                <a:solidFill>
                  <a:srgbClr val="1A3A5C"/>
                </a:solidFill>
                <a:latin typeface="Calibri"/>
              </a:rPr>
              <a:t>Metro + Tier-2 + Tier-3</a:t>
            </a:r>
          </a:p>
          <a:p>
            <a:pPr algn="ctr"/>
            <a:r>
              <a:rPr sz="1200" b="0">
                <a:solidFill>
                  <a:srgbClr val="1A3A5C"/>
                </a:solidFill>
                <a:latin typeface="Calibri"/>
              </a:rPr>
              <a:t>Equitable health access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61104" y="1188720"/>
            <a:ext cx="3566160" cy="4114800"/>
          </a:xfrm>
          <a:prstGeom prst="roundRect">
            <a:avLst/>
          </a:prstGeom>
          <a:solidFill>
            <a:srgbClr val="DBEAFE"/>
          </a:solidFill>
          <a:ln w="19050">
            <a:solidFill>
              <a:srgbClr val="63B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A3A5C"/>
                </a:solidFill>
                <a:latin typeface="Calibri"/>
              </a:rPr>
              <a:t>👤 Individual</a:t>
            </a:r>
          </a:p>
          <a:p>
            <a:pPr algn="ctr"/>
            <a:r>
              <a:rPr sz="1200" b="0">
                <a:solidFill>
                  <a:srgbClr val="1A3A5C"/>
                </a:solidFill>
                <a:latin typeface="Calibri"/>
              </a:rPr>
              <a:t/>
            </a:r>
          </a:p>
          <a:p>
            <a:pPr algn="ctr"/>
            <a:r>
              <a:rPr sz="1200" b="0">
                <a:solidFill>
                  <a:srgbClr val="1A3A5C"/>
                </a:solidFill>
                <a:latin typeface="Calibri"/>
              </a:rPr>
              <a:t>Personalised vulnerability scoring</a:t>
            </a:r>
          </a:p>
          <a:p>
            <a:pPr algn="ctr"/>
            <a:r>
              <a:rPr sz="1200" b="0">
                <a:solidFill>
                  <a:srgbClr val="1A3A5C"/>
                </a:solidFill>
                <a:latin typeface="Calibri"/>
              </a:rPr>
              <a:t>Actionable daily guidance</a:t>
            </a:r>
          </a:p>
          <a:p>
            <a:pPr algn="ctr"/>
            <a:r>
              <a:rPr sz="1200" b="0">
                <a:solidFill>
                  <a:srgbClr val="1A3A5C"/>
                </a:solidFill>
                <a:latin typeface="Calibri"/>
              </a:rPr>
              <a:t>Empowers health decisions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65008" y="1188720"/>
            <a:ext cx="3566160" cy="4114800"/>
          </a:xfrm>
          <a:prstGeom prst="roundRect">
            <a:avLst/>
          </a:prstGeom>
          <a:solidFill>
            <a:srgbClr val="DBEAFE"/>
          </a:solidFill>
          <a:ln w="19050">
            <a:solidFill>
              <a:srgbClr val="63B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A3A5C"/>
                </a:solidFill>
                <a:latin typeface="Calibri"/>
              </a:rPr>
              <a:t>🏙️ Community</a:t>
            </a:r>
          </a:p>
          <a:p>
            <a:pPr algn="ctr"/>
            <a:r>
              <a:rPr sz="1200" b="0">
                <a:solidFill>
                  <a:srgbClr val="1A3A5C"/>
                </a:solidFill>
                <a:latin typeface="Calibri"/>
              </a:rPr>
              <a:t/>
            </a:r>
          </a:p>
          <a:p>
            <a:pPr algn="ctr"/>
            <a:r>
              <a:rPr sz="1200" b="0">
                <a:solidFill>
                  <a:srgbClr val="1A3A5C"/>
                </a:solidFill>
                <a:latin typeface="Calibri"/>
              </a:rPr>
              <a:t>Supports ASHA worker outreach</a:t>
            </a:r>
          </a:p>
          <a:p>
            <a:pPr algn="ctr"/>
            <a:r>
              <a:rPr sz="1200" b="0">
                <a:solidFill>
                  <a:srgbClr val="1A3A5C"/>
                </a:solidFill>
                <a:latin typeface="Calibri"/>
              </a:rPr>
              <a:t>Informs municipal policy</a:t>
            </a:r>
          </a:p>
          <a:p>
            <a:pPr algn="ctr"/>
            <a:r>
              <a:rPr sz="1200" b="0">
                <a:solidFill>
                  <a:srgbClr val="1A3A5C"/>
                </a:solidFill>
                <a:latin typeface="Calibri"/>
              </a:rPr>
              <a:t>Builds pollution resilience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48640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1A3A5C"/>
                </a:solidFill>
                <a:latin typeface="Calibri"/>
              </a:rPr>
              <a:t>Aligned with India's national health and sustainability goals under SDG 3 and SDG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3A5C"/>
          </a:solidFill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FFFFFF"/>
                </a:solidFill>
                <a:latin typeface="Calibri"/>
              </a:rPr>
              <a:t>1M1B AI for Sustainability · IBM SkillsBuild + AICTE · Shreenivas S B · Dayananda Sagar University, Bangalore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4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114574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3A5C"/>
                </a:solidFill>
                <a:latin typeface="Calibri"/>
              </a:rPr>
              <a:t>Prototype &amp; Demo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5394960" cy="5074920"/>
          </a:xfrm>
          <a:prstGeom prst="roundRect">
            <a:avLst/>
          </a:prstGeom>
          <a:solidFill>
            <a:srgbClr val="DBEAFE"/>
          </a:solidFill>
          <a:ln w="19050">
            <a:solidFill>
              <a:srgbClr val="63B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A3A5C"/>
                </a:solidFill>
                <a:latin typeface="Calibri"/>
              </a:rPr>
              <a:t>Agent Flow</a:t>
            </a:r>
          </a:p>
          <a:p>
            <a:pPr algn="ctr"/>
            <a:r>
              <a:rPr sz="1200" b="0">
                <a:solidFill>
                  <a:srgbClr val="1A3A5C"/>
                </a:solidFill>
                <a:latin typeface="Calibri"/>
              </a:rPr>
              <a:t/>
            </a:r>
          </a:p>
          <a:p>
            <a:pPr algn="ctr"/>
            <a:r>
              <a:rPr sz="1200" b="0">
                <a:solidFill>
                  <a:srgbClr val="1A3A5C"/>
                </a:solidFill>
                <a:latin typeface="Calibri"/>
              </a:rPr>
              <a:t>User selects city + health profile</a:t>
            </a:r>
          </a:p>
          <a:p>
            <a:pPr algn="ctr"/>
            <a:r>
              <a:rPr sz="1200" b="0">
                <a:solidFill>
                  <a:srgbClr val="1A3A5C"/>
                </a:solidFill>
                <a:latin typeface="Calibri"/>
              </a:rPr>
              <a:t>↓</a:t>
            </a:r>
          </a:p>
          <a:p>
            <a:pPr algn="ctr"/>
            <a:r>
              <a:rPr sz="1200" b="0">
                <a:solidFill>
                  <a:srgbClr val="1A3A5C"/>
                </a:solidFill>
                <a:latin typeface="Calibri"/>
              </a:rPr>
              <a:t>Agent 1: Fetches live AQI + pollutant data</a:t>
            </a:r>
          </a:p>
          <a:p>
            <a:pPr algn="ctr"/>
            <a:r>
              <a:rPr sz="1200" b="0">
                <a:solidFill>
                  <a:srgbClr val="1A3A5C"/>
                </a:solidFill>
                <a:latin typeface="Calibri"/>
              </a:rPr>
              <a:t>↓</a:t>
            </a:r>
          </a:p>
          <a:p>
            <a:pPr algn="ctr"/>
            <a:r>
              <a:rPr sz="1200" b="0">
                <a:solidFill>
                  <a:srgbClr val="1A3A5C"/>
                </a:solidFill>
                <a:latin typeface="Calibri"/>
              </a:rPr>
              <a:t>Agent 2: Random Forest predicts risk level</a:t>
            </a:r>
          </a:p>
          <a:p>
            <a:pPr algn="ctr"/>
            <a:r>
              <a:rPr sz="1200" b="0">
                <a:solidFill>
                  <a:srgbClr val="1A3A5C"/>
                </a:solidFill>
                <a:latin typeface="Calibri"/>
              </a:rPr>
              <a:t>↓</a:t>
            </a:r>
          </a:p>
          <a:p>
            <a:pPr algn="ctr"/>
            <a:r>
              <a:rPr sz="1200" b="0">
                <a:solidFill>
                  <a:srgbClr val="1A3A5C"/>
                </a:solidFill>
                <a:latin typeface="Calibri"/>
              </a:rPr>
              <a:t>Agent 3: IBM Granite 4 generates advisory</a:t>
            </a:r>
          </a:p>
          <a:p>
            <a:pPr algn="ctr"/>
            <a:r>
              <a:rPr sz="1200" b="0">
                <a:solidFill>
                  <a:srgbClr val="1A3A5C"/>
                </a:solidFill>
                <a:latin typeface="Calibri"/>
              </a:rPr>
              <a:t>↓</a:t>
            </a:r>
          </a:p>
          <a:p>
            <a:pPr algn="ctr"/>
            <a:r>
              <a:rPr sz="1200" b="0">
                <a:solidFill>
                  <a:srgbClr val="1A3A5C"/>
                </a:solidFill>
                <a:latin typeface="Calibri"/>
              </a:rPr>
              <a:t>Agent 4: Compiles PDF report</a:t>
            </a:r>
          </a:p>
          <a:p>
            <a:pPr algn="ctr"/>
            <a:r>
              <a:rPr sz="1200" b="0">
                <a:solidFill>
                  <a:srgbClr val="1A3A5C"/>
                </a:solidFill>
                <a:latin typeface="Calibri"/>
              </a:rPr>
              <a:t>↓</a:t>
            </a:r>
          </a:p>
          <a:p>
            <a:pPr algn="ctr"/>
            <a:r>
              <a:rPr sz="1200" b="0">
                <a:solidFill>
                  <a:srgbClr val="1A3A5C"/>
                </a:solidFill>
                <a:latin typeface="Calibri"/>
              </a:rPr>
              <a:t>Dashboard displays results + download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36792" y="1188720"/>
            <a:ext cx="5394960" cy="5074920"/>
          </a:xfrm>
          <a:prstGeom prst="roundRect">
            <a:avLst/>
          </a:prstGeom>
          <a:solidFill>
            <a:srgbClr val="DBEAFE"/>
          </a:solidFill>
          <a:ln w="19050">
            <a:solidFill>
              <a:srgbClr val="63B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rgbClr val="1A3A5C"/>
                </a:solidFill>
                <a:latin typeface="Calibri"/>
              </a:rPr>
              <a:t>Key Features</a:t>
            </a:r>
          </a:p>
          <a:p>
            <a:pPr algn="l"/>
            <a:r>
              <a:rPr sz="1200" b="0">
                <a:solidFill>
                  <a:srgbClr val="1A3A5C"/>
                </a:solidFill>
                <a:latin typeface="Calibri"/>
              </a:rPr>
              <a:t/>
            </a:r>
          </a:p>
          <a:p>
            <a:pPr algn="l"/>
            <a:r>
              <a:rPr sz="1200" b="0">
                <a:solidFill>
                  <a:srgbClr val="1A3A5C"/>
                </a:solidFill>
                <a:latin typeface="Calibri"/>
              </a:rPr>
              <a:t>✅ GPS location detection</a:t>
            </a:r>
          </a:p>
          <a:p>
            <a:pPr algn="l"/>
            <a:r>
              <a:rPr sz="1200" b="0">
                <a:solidFill>
                  <a:srgbClr val="1A3A5C"/>
                </a:solidFill>
                <a:latin typeface="Calibri"/>
              </a:rPr>
              <a:t>✅ 26 Indian cities supported</a:t>
            </a:r>
          </a:p>
          <a:p>
            <a:pPr algn="l"/>
            <a:r>
              <a:rPr sz="1200" b="0">
                <a:solidFill>
                  <a:srgbClr val="1A3A5C"/>
                </a:solidFill>
                <a:latin typeface="Calibri"/>
              </a:rPr>
              <a:t>✅ WHO 2021 guideline comparison</a:t>
            </a:r>
          </a:p>
          <a:p>
            <a:pPr algn="l"/>
            <a:r>
              <a:rPr sz="1200" b="0">
                <a:solidFill>
                  <a:srgbClr val="1A3A5C"/>
                </a:solidFill>
                <a:latin typeface="Calibri"/>
              </a:rPr>
              <a:t>✅ Personalised vulnerability score (0-8)</a:t>
            </a:r>
          </a:p>
          <a:p>
            <a:pPr algn="l"/>
            <a:r>
              <a:rPr sz="1200" b="0">
                <a:solidFill>
                  <a:srgbClr val="1A3A5C"/>
                </a:solidFill>
                <a:latin typeface="Calibri"/>
              </a:rPr>
              <a:t>✅ AQI gauge + pollutant bar chart</a:t>
            </a:r>
          </a:p>
          <a:p>
            <a:pPr algn="l"/>
            <a:r>
              <a:rPr sz="1200" b="0">
                <a:solidFill>
                  <a:srgbClr val="1A3A5C"/>
                </a:solidFill>
                <a:latin typeface="Calibri"/>
              </a:rPr>
              <a:t>✅ IBM Granite 4 health advisory</a:t>
            </a:r>
          </a:p>
          <a:p>
            <a:pPr algn="l"/>
            <a:r>
              <a:rPr sz="1200" b="0">
                <a:solidFill>
                  <a:srgbClr val="1A3A5C"/>
                </a:solidFill>
                <a:latin typeface="Calibri"/>
              </a:rPr>
              <a:t>✅ Downloadable PDF report</a:t>
            </a:r>
          </a:p>
          <a:p>
            <a:pPr algn="l"/>
            <a:r>
              <a:rPr sz="1200" b="0">
                <a:solidFill>
                  <a:srgbClr val="1A3A5C"/>
                </a:solidFill>
                <a:latin typeface="Calibri"/>
              </a:rPr>
              <a:t>✅ Medical disclaimer included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>
                <a:solidFill>
                  <a:srgbClr val="2C5282"/>
                </a:solidFill>
                <a:latin typeface="Calibri"/>
              </a:rPr>
              <a:t>🔗 Live App: https://airseva-4uzac5mbekkwmzvdt4rsux.streamlit.app</a:t>
            </a:r>
          </a:p>
          <a:p>
            <a:pPr algn="ctr"/>
            <a:r>
              <a:rPr sz="1200">
                <a:solidFill>
                  <a:srgbClr val="2C5282"/>
                </a:solidFill>
                <a:latin typeface="Calibri"/>
              </a:rPr>
              <a:t>📁 GitHub: https://github.com/ShreenivasSB/AirSeva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3A5C"/>
          </a:solidFill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FFFFFF"/>
                </a:solidFill>
                <a:latin typeface="Calibri"/>
              </a:rPr>
              <a:t>1M1B AI for Sustainability · IBM SkillsBuild + AICTE · Shreenivas S B · Dayananda Sagar University, Bangalore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4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114574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3A5C"/>
                </a:solidFill>
                <a:latin typeface="Calibri"/>
              </a:rPr>
              <a:t>Impact Statement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43000"/>
            <a:ext cx="11274552" cy="2194560"/>
          </a:xfrm>
          <a:prstGeom prst="roundRect">
            <a:avLst/>
          </a:prstGeom>
          <a:solidFill>
            <a:srgbClr val="DBEAFE"/>
          </a:solidFill>
          <a:ln w="19050">
            <a:solidFill>
              <a:srgbClr val="63B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i="1">
                <a:solidFill>
                  <a:srgbClr val="1A3A5C"/>
                </a:solidFill>
                <a:latin typeface="Calibri"/>
              </a:rPr>
              <a:t>AirSeva empowers individuals and communities to make informed, health-conscious decisions based on real-time air quality data across 26 Indian cities. By translating raw pollutant data into clear, actionable advisories, it bridges the gap between complex environmental monitoring and everyday public health behaviour.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3566160"/>
            <a:ext cx="5394960" cy="2194560"/>
          </a:xfrm>
          <a:prstGeom prst="roundRect">
            <a:avLst/>
          </a:prstGeom>
          <a:solidFill>
            <a:srgbClr val="DBEAFE"/>
          </a:solidFill>
          <a:ln w="19050">
            <a:solidFill>
              <a:srgbClr val="63B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>
                <a:solidFill>
                  <a:srgbClr val="1A3A5C"/>
                </a:solidFill>
                <a:latin typeface="Calibri"/>
              </a:rPr>
              <a:t>Who Benefits</a:t>
            </a:r>
          </a:p>
          <a:p>
            <a:pPr algn="l"/>
            <a:r>
              <a:rPr sz="1200" b="0">
                <a:solidFill>
                  <a:srgbClr val="1A3A5C"/>
                </a:solidFill>
                <a:latin typeface="Calibri"/>
              </a:rPr>
              <a:t/>
            </a:r>
          </a:p>
          <a:p>
            <a:pPr algn="l"/>
            <a:r>
              <a:rPr sz="1200" b="0">
                <a:solidFill>
                  <a:srgbClr val="1A3A5C"/>
                </a:solidFill>
                <a:latin typeface="Calibri"/>
              </a:rPr>
              <a:t>Citizens . Vulnerable groups . ASHA workers . Urban local bodies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36792" y="3566160"/>
            <a:ext cx="5394960" cy="2194560"/>
          </a:xfrm>
          <a:prstGeom prst="roundRect">
            <a:avLst/>
          </a:prstGeom>
          <a:solidFill>
            <a:srgbClr val="DBEAFE"/>
          </a:solidFill>
          <a:ln w="19050">
            <a:solidFill>
              <a:srgbClr val="63B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>
                <a:solidFill>
                  <a:srgbClr val="1A3A5C"/>
                </a:solidFill>
                <a:latin typeface="Calibri"/>
              </a:rPr>
              <a:t>What Changes</a:t>
            </a:r>
          </a:p>
          <a:p>
            <a:pPr algn="l"/>
            <a:r>
              <a:rPr sz="1200" b="0">
                <a:solidFill>
                  <a:srgbClr val="1A3A5C"/>
                </a:solidFill>
                <a:latin typeface="Calibri"/>
              </a:rPr>
              <a:t/>
            </a:r>
          </a:p>
          <a:p>
            <a:pPr algn="l"/>
            <a:r>
              <a:rPr sz="1200" b="0">
                <a:solidFill>
                  <a:srgbClr val="1A3A5C"/>
                </a:solidFill>
                <a:latin typeface="Calibri"/>
              </a:rPr>
              <a:t>Reduced gap between AQI data and public action . Proactive health behaviour . Supports India's SDG 3 + SDG 11 goals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8932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C5282"/>
                </a:solidFill>
                <a:latin typeface="Calibri"/>
              </a:rPr>
              <a:t>Built with IBM Granite 4 . WatsonX AI . Random Forest ML . WAQI API . WHO 2021 Standards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3A5C"/>
          </a:solidFill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FFFFFF"/>
                </a:solidFill>
                <a:latin typeface="Calibri"/>
              </a:rPr>
              <a:t>1M1B AI for Sustainability · IBM SkillsBuild + AICTE · Shreenivas S B · Dayananda Sagar University, Bangalore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